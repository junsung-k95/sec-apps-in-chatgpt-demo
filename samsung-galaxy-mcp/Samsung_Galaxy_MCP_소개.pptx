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1E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SAMSUNG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28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Samsung Galaxy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sz="2200" b="0">
                <a:solidFill>
                  <a:srgbClr val="D6E8F7"/>
                </a:solidFill>
                <a:latin typeface="맑은 고딕"/>
              </a:rPr>
              <a:t>ChatGPT 연동 MCP 서버 — 기능 소개 및 기술 요건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3108960" cy="1005840"/>
          </a:xfrm>
          <a:prstGeom prst="roundRect">
            <a:avLst/>
          </a:prstGeom>
          <a:solidFill>
            <a:srgbClr val="0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Samsung Care+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0">
                <a:solidFill>
                  <a:srgbClr val="DDDDFF"/>
                </a:solidFill>
                <a:latin typeface="맑은 고딕"/>
              </a:rPr>
              <a:t>기기 보험 서비스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206240"/>
            <a:ext cx="3108960" cy="1005840"/>
          </a:xfrm>
          <a:prstGeom prst="round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34340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New 갤럭시 AI 구독클럽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75488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0">
                <a:solidFill>
                  <a:srgbClr val="DDDDFF"/>
                </a:solidFill>
                <a:latin typeface="맑은 고딕"/>
              </a:rPr>
              <a:t>구독형 업그레이드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206240"/>
            <a:ext cx="3108960" cy="100584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434340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보상판매 (Trade-in)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75488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0">
                <a:solidFill>
                  <a:srgbClr val="DDDDFF"/>
                </a:solidFill>
                <a:latin typeface="맑은 고딕"/>
              </a:rPr>
              <a:t>기기 보상가 견적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0">
                <a:solidFill>
                  <a:srgbClr val="88AADD"/>
                </a:solidFill>
                <a:latin typeface="맑은 고딕"/>
              </a:rPr>
              <a:t>2026.03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1">
                <a:solidFill>
                  <a:srgbClr val="1E3AB8"/>
                </a:solidFill>
                <a:latin typeface="맑은 고딕"/>
              </a:rPr>
              <a:t>ChatGPT 안에서 삼성 Galaxy 서비스를 바로 이용할 수 있다면?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이 프로젝트는 ChatGPT 대화 안에서 삼성전자의 Galaxy 서비스 3가지를
대화형으로 안내하고, 실시간 위젯(화면)으로 정보를 보여주는 시스템입니다.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2468880" cy="118872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👤 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DDEEFF"/>
                </a:solidFill>
                <a:latin typeface="맑은 고딕"/>
              </a:rPr>
              <a:t>자연어로 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546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79"/>
              </a:lnSpc>
              <a:spcAft>
                <a:spcPts val="0"/>
              </a:spcAft>
            </a:pPr>
            <a:r>
              <a:rPr sz="2400" b="1">
                <a:solidFill>
                  <a:srgbClr val="4A90D9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834640"/>
            <a:ext cx="2468880" cy="1188720"/>
          </a:xfrm>
          <a:prstGeom prst="roundRect">
            <a:avLst/>
          </a:prstGeom>
          <a:solidFill>
            <a:srgbClr val="1E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971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🤖 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4747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DDEEFF"/>
                </a:solidFill>
                <a:latin typeface="맑은 고딕"/>
              </a:rPr>
              <a:t>질문 이해 + 도구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1546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79"/>
              </a:lnSpc>
              <a:spcAft>
                <a:spcPts val="0"/>
              </a:spcAft>
            </a:pPr>
            <a:r>
              <a:rPr sz="2400" b="1">
                <a:solidFill>
                  <a:srgbClr val="4A90D9"/>
                </a:solidFill>
                <a:latin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34640"/>
            <a:ext cx="2468880" cy="118872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⚙️ MCP 서버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DDEEFF"/>
                </a:solidFill>
                <a:latin typeface="맑은 고딕"/>
              </a:rPr>
              <a:t>정보 조회 + 비즈니스 로직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546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79"/>
              </a:lnSpc>
              <a:spcAft>
                <a:spcPts val="0"/>
              </a:spcAft>
            </a:pPr>
            <a:r>
              <a:rPr sz="2400" b="1">
                <a:solidFill>
                  <a:srgbClr val="4A90D9"/>
                </a:solidFill>
                <a:latin typeface="맑은 고딕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834640"/>
            <a:ext cx="2468880" cy="1188720"/>
          </a:xfrm>
          <a:prstGeom prst="roundRect">
            <a:avLst/>
          </a:prstGeom>
          <a:solidFill>
            <a:srgbClr val="0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971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📊 위젯 + 텍스트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4747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DDEEFF"/>
                </a:solidFill>
                <a:latin typeface="맑은 고딕"/>
              </a:rPr>
              <a:t>사용자에게 결과 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89120"/>
            <a:ext cx="3383280" cy="18288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98848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006EBE"/>
                </a:solidFill>
                <a:latin typeface="맑은 고딕"/>
              </a:rPr>
              <a:t>Samsung Care+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기기 보험 가입 상담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39512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Late Enrollment (사진 검사)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86984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Basic / Premium 비교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19" y="4389120"/>
            <a:ext cx="3383280" cy="18288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1999" y="4498848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5C2D91"/>
                </a:solidFill>
                <a:latin typeface="맑은 고딕"/>
              </a:rPr>
              <a:t>New 갤럭시 AI 구독클럽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19" y="4892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12/24/36개월 플랜 안내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19" y="5239512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구독 vs 일반구매 비용 비교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19" y="5586984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가입 절차 안내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59" y="4389120"/>
            <a:ext cx="3383280" cy="18288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39" y="4498848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007A33"/>
                </a:solidFill>
                <a:latin typeface="맑은 고딕"/>
              </a:rPr>
              <a:t>보상판매 (Trade-in)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4892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기기 보상가 간편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59" y="5239512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정식 견적 (상태별 가격 산정)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9" y="5586984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사진 기반 정밀 재산정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시나리오 1 — Samsung Care+ Late Enrollment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0881360" cy="50292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E3AB8"/>
                </a:solidFill>
                <a:latin typeface="맑은 고딕"/>
              </a:rPr>
              <a:t>💬 상황: Galaxy S24 Ultra를 작년 10월에 산 고객이 지금도 Care+에 가입할 수 있는지 문의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맑은 고딕"/>
              </a:rPr>
              <a:t>턴 1  가입 가능 여부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5029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👤 "S24 Ultra를 작년 10월에 샀는데, Care+에 지금도 가입할 수 있나요?"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103120"/>
            <a:ext cx="5577840" cy="1920240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148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006EBE"/>
                </a:solidFill>
                <a:latin typeface="맑은 고딕"/>
              </a:rPr>
              <a:t>⚙️ Care+ 플랜 조회 및 가입 가능 여부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41448"/>
            <a:ext cx="52120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입력: 기기=S24 Ultra, 구매일=2025-10-01</a:t>
            </a:r>
          </a:p>
          <a:p>
            <a:pPr algn="l">
              <a:lnSpc>
                <a:spcPts val="780"/>
              </a:lnSpc>
              <a:spcAft>
                <a:spcPts val="200"/>
              </a:spcAft>
            </a:pPr>
            <a:r>
              <a:rPr sz="600" b="0">
                <a:solidFill>
                  <a:srgbClr val="666666"/>
                </a:solidFill>
                <a:latin typeface="맑은 고딕"/>
              </a:rPr>
              <a:t/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출력: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Care+ 플랜 목록 (Basic $11.99/월, Premium $17.99/월)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가입 상태: Late Enrollment 가능 (60일~1년)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Late Enrollment 수수료: $49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Vision 검사 필요: 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97480"/>
            <a:ext cx="5029200" cy="594360"/>
          </a:xfrm>
          <a:prstGeom prst="round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0A1A5C"/>
                </a:solidFill>
                <a:latin typeface="맑은 고딕"/>
              </a:rPr>
              <a:t>🤖 "Late Enrollment로 가입 가능합니다. 기기 사진을 올려주세요"
    [Care+ 위젯: Basic/Premium 비교 + Late Enrollment 배너]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맑은 고딕"/>
              </a:rPr>
              <a:t>턴 2  사진 기반 기기 상태 확인 (AI Vision)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5029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5935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👤 [Galaxy S24 Ultra 앞면/뒷면 사진 2장 업로드]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840480"/>
            <a:ext cx="5577840" cy="1828800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8862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006EBE"/>
                </a:solidFill>
                <a:latin typeface="맑은 고딕"/>
              </a:rPr>
              <a:t>⚙️ 사진 기반 기기 상태 검사 (Late Enrollment)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178808"/>
            <a:ext cx="5212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입력: 기기=S24 Ultra, 구매일=2025-10-01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       Vision 결과: 화면=미세스크래치, 외관=미세흔적, 카메라=깨끗</a:t>
            </a:r>
          </a:p>
          <a:p>
            <a:pPr algn="l">
              <a:lnSpc>
                <a:spcPts val="780"/>
              </a:lnSpc>
              <a:spcAft>
                <a:spcPts val="200"/>
              </a:spcAft>
            </a:pPr>
            <a:r>
              <a:rPr sz="600" b="0">
                <a:solidFill>
                  <a:srgbClr val="666666"/>
                </a:solidFill>
                <a:latin typeface="맑은 고딕"/>
              </a:rPr>
              <a:t/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출력: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009E60"/>
                </a:solidFill>
                <a:latin typeface="맑은 고딕"/>
              </a:rPr>
              <a:t>  • 적격 여부: ✅ Late Enrollment 승인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항목별: 화면 ✅  외관 ✅  카메라 ✅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추천 플랜: Care+ Premium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5029200" cy="594360"/>
          </a:xfrm>
          <a:prstGeom prst="round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8056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0A1A5C"/>
                </a:solidFill>
                <a:latin typeface="맑은 고딕"/>
              </a:rPr>
              <a:t>🤖 "기기 상태 확인 완료! Care+ 가입이 가능합니다."
    [위젯: 상태 🟢🟢🟢 + "Late Enrollment 승인" 녹색 배너]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66360"/>
            <a:ext cx="1088136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턴 3-4  👤 "Premium이랑 Basic 차이가 뭐예요? 분실도 보장되나요?" → 🤖 상세 비교 표시 → 👤 "Premium으로 가입할게요" → 🤖 CTA "Care+ Premium 가입하기"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시나리오 2 — New 갤럭시 AI 구독클럽 상담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0881360" cy="50292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E3AB8"/>
                </a:solidFill>
                <a:latin typeface="맑은 고딕"/>
              </a:rPr>
              <a:t>💬 상황: 갤럭시 AI 구독클럽이 뭔지 궁금하고, 가입 시 어떤 혜택이 있는지 알고 싶은 고객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맑은 고딕"/>
              </a:rPr>
              <a:t>턴 1  구독클럽 소개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5029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👤 "갤럭시 AI 구독클럽이 뭔가요?"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103120"/>
            <a:ext cx="5577840" cy="210312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1488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5C2D91"/>
                </a:solidFill>
                <a:latin typeface="맑은 고딕"/>
              </a:rPr>
              <a:t>⚙️ Galaxy Club 플랜별 가격·혜택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41448"/>
            <a:ext cx="5212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입력: 플랜=all, FAQ=true</a:t>
            </a:r>
          </a:p>
          <a:p>
            <a:pPr algn="l">
              <a:lnSpc>
                <a:spcPts val="780"/>
              </a:lnSpc>
              <a:spcAft>
                <a:spcPts val="200"/>
              </a:spcAft>
            </a:pPr>
            <a:r>
              <a:rPr sz="600" b="0">
                <a:solidFill>
                  <a:srgbClr val="666666"/>
                </a:solidFill>
                <a:latin typeface="맑은 고딕"/>
              </a:rPr>
              <a:t/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출력: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플랜 3종: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  - 12개월형: ₩6,900/월, 반납 시 기준가 50% 현금 지급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  - 24개월형: ₩6,900/월, 반납 시 40% 현금 지급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  - 36개월형: ₩8,900/월, 반납 시 25% + 분실보장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Care+ 포함, 액세서리 쿠폰, 가입절차 3단계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라이프사이클 타임라인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97480"/>
            <a:ext cx="5029200" cy="685800"/>
          </a:xfrm>
          <a:prstGeom prst="round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0A1A5C"/>
                </a:solidFill>
                <a:latin typeface="맑은 고딕"/>
              </a:rPr>
              <a:t>🤖 "삼성닷컴에서 기기 구매 시 가입하는 부가 구독 프로그램입니다.
     Care+, 잔존가 보장, 액세서리 쿠폰이 포함됩니다.
     관심 기기가 있으면 비용 구조를 분석해 드릴까요?"  [구독클럽 위젯]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맑은 고딕"/>
              </a:rPr>
              <a:t>턴 2  비용 구조 분석 (가입 시 vs 미가입 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5029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8795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👤 "Galaxy S26 Ultra로 비교해주세요"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069080"/>
            <a:ext cx="5577840" cy="201168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114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5C2D91"/>
                </a:solidFill>
                <a:latin typeface="맑은 고딕"/>
              </a:rPr>
              <a:t>⚙️ 구독 가입 시 vs 미가입 시 비용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407408"/>
            <a:ext cx="52120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입력: 기기=Galaxy S26 Ultra, 플랜=12개월형</a:t>
            </a:r>
          </a:p>
          <a:p>
            <a:pPr algn="l">
              <a:lnSpc>
                <a:spcPts val="780"/>
              </a:lnSpc>
              <a:spcAft>
                <a:spcPts val="200"/>
              </a:spcAft>
            </a:pPr>
            <a:r>
              <a:rPr sz="600" b="0">
                <a:solidFill>
                  <a:srgbClr val="666666"/>
                </a:solidFill>
                <a:latin typeface="맑은 고딕"/>
              </a:rPr>
              <a:t/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출력: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▸ 가입 시: 기기 1,753,650원(공통) + 이용료 82,800원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  Care+ 포함, 반납 시 잔존가 898,700원 현금 지급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5C2D91"/>
                </a:solidFill>
                <a:latin typeface="맑은 고딕"/>
              </a:rPr>
              <a:t>    → 반납 후 실질 부담: 937,750원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▸ 미가입: 기기값 + Care+ 별도 290,250원/년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    중고 판매 가격 보장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63440"/>
            <a:ext cx="5029200" cy="502920"/>
          </a:xfrm>
          <a:prstGeom prst="round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0916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0A1A5C"/>
                </a:solidFill>
                <a:latin typeface="맑은 고딕"/>
              </a:rPr>
              <a:t>🤖 [비교 위젯: 가입 시 실질부담 937,750원 vs 미가입 시 보장 없음]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1088136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턴 3  👤 "가입하고 싶어요" → 🤖 3단계 안내: 삼성닷컴 구매+신청 → IMEI 등록 → 반납+잔존가 수령 + CTA "가입하기"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시나리오 3 — Trade-in 보상판매 견적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0881360" cy="50292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E3AB8"/>
                </a:solidFill>
                <a:latin typeface="맑은 고딕"/>
              </a:rPr>
              <a:t>💬 상황: 기존 기기의 보상판매 가격을 알고 싶고, 사진으로 더 정확한 견적을 받고 싶은 고객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맑은 고딕"/>
              </a:rPr>
              <a:t>턴 1  보상판매 문의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5029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👤 "보상판매 얼마 받을 수 있는지 알아보고 싶어요"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5029200" cy="502920"/>
          </a:xfrm>
          <a:prstGeom prst="round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0A1A5C"/>
                </a:solidFill>
                <a:latin typeface="맑은 고딕"/>
              </a:rPr>
              <a:t>🤖 "어떤 기기를 보상판매하시려고요?
     그리고 어느 통신사를 사용하고 계신가요?"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103120"/>
            <a:ext cx="5577840" cy="100584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148840"/>
            <a:ext cx="5212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이 시점에서는 MCP 서버 호출 없이
ChatGPT가 대화로 필요한 정보(기기명, 통신사)를
수집합니다. 가이드라인에 따라 자연스럽게 질문.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맑은 고딕"/>
              </a:rPr>
              <a:t>턴 2  기기+통신사 기반 기본 견적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5029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6791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👤 "Galaxy S23 Ultra, SKT입니다"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749040"/>
            <a:ext cx="5577840" cy="164592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794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007A33"/>
                </a:solidFill>
                <a:latin typeface="맑은 고딕"/>
              </a:rPr>
              <a:t>⚙️ 보상판매 정식 견적 시작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087368"/>
            <a:ext cx="5212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입력: 기기=Galaxy S23 Ultra, 통신사=SKT</a:t>
            </a:r>
          </a:p>
          <a:p>
            <a:pPr algn="l">
              <a:lnSpc>
                <a:spcPts val="780"/>
              </a:lnSpc>
              <a:spcAft>
                <a:spcPts val="200"/>
              </a:spcAft>
            </a:pPr>
            <a:r>
              <a:rPr sz="600" b="0">
                <a:solidFill>
                  <a:srgbClr val="666666"/>
                </a:solidFill>
                <a:latin typeface="맑은 고딕"/>
              </a:rPr>
              <a:t/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출력: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견적 ID 발급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기본 견적가 산출 (모델+통신사 기반)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가격 산출 내역 (기준가, 통신사 조정 등)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43400"/>
            <a:ext cx="5029200" cy="502920"/>
          </a:xfrm>
          <a:prstGeom prst="round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891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0A1A5C"/>
                </a:solidFill>
                <a:latin typeface="맑은 고딕"/>
              </a:rPr>
              <a:t>🤖 [Trade-in 위젯: 초기 견적 표시]
     "더 정확한 견적을 위해 기기 사진을 올려주세요"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맑은 고딕"/>
              </a:rPr>
              <a:t>턴 3  사진 기반 정밀 견적 (AI Vision)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40680"/>
            <a:ext cx="50292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1383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👤 [기기 앞면/뒷면 사진 업로드]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5394960"/>
            <a:ext cx="5577840" cy="169164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4406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007A33"/>
                </a:solidFill>
                <a:latin typeface="맑은 고딕"/>
              </a:rPr>
              <a:t>⚙️ 사진 기반 기기 상태 정밀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733288"/>
            <a:ext cx="5212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입력: 견적ID, Vision 결과 (화면/외관/카메라 상태)</a:t>
            </a:r>
          </a:p>
          <a:p>
            <a:pPr algn="l">
              <a:lnSpc>
                <a:spcPts val="780"/>
              </a:lnSpc>
              <a:spcAft>
                <a:spcPts val="200"/>
              </a:spcAft>
            </a:pPr>
            <a:r>
              <a:rPr sz="600" b="0">
                <a:solidFill>
                  <a:srgbClr val="666666"/>
                </a:solidFill>
                <a:latin typeface="맑은 고딕"/>
              </a:rPr>
              <a:t/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출력: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009E60"/>
                </a:solidFill>
                <a:latin typeface="맑은 고딕"/>
              </a:rPr>
              <a:t>  • 예상 보상가 범위: 370,000원 ~ 450,000원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  • 상태 인디케이터: 화면 🟢  바디 🟢  카메라 🟢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0">
                <a:solidFill>
                  <a:srgbClr val="F07E13"/>
                </a:solidFill>
                <a:latin typeface="맑은 고딕"/>
              </a:rPr>
              <a:t>  ⚠️ 정확한 가격은 전문 업체 수거·분석 후 확정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989320"/>
            <a:ext cx="5029200" cy="502920"/>
          </a:xfrm>
          <a:prstGeom prst="round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035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0A1A5C"/>
                </a:solidFill>
                <a:latin typeface="맑은 고딕"/>
              </a:rPr>
              <a:t>🤖 [위젯: 보상가 범위 + 상태 🟢🟢🟢 + disclaimer]
     "정확한 가격은 전문 업체 수거 및 분석 후 확정됩니다"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MCP 서버 기능(도구)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1E3AB8"/>
                </a:solidFill>
                <a:latin typeface="맑은 고딕"/>
              </a:rPr>
              <a:t>ChatGPT가 대화 중 자동으로 사용하는 9가지 기능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00200"/>
          <a:ext cx="9601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920240"/>
                <a:gridCol w="1828800"/>
                <a:gridCol w="2286000"/>
                <a:gridCol w="2468880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입력 (ChatGPT → 서버)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출력 (서버 → ChatGPT)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위젯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상담 가이드라인 불러오기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대화 시작 시 응대 규칙을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ChatGPT에 전달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(없음)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응대 톤, 서비스별 대화 흐름,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Vision 사진 가이드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Care+ 플랜 조회 및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가입 가능 여부 확인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Care+ 보험 플랜 안내,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구매 시기로 가입 가능 여부 판단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기기 모델, 구매일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플랜 비교 (Basic/Premium),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가입 상태, 수수료, FAQ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Care+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사진 기반 기기 상태 검사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(Late Enrollment)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기기 사진을 분석해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Care+ 늦은 가입 승인/거절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기기 모델, 구매일,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사진 분석 결과(화면/외관/카메라)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가입 가능 여부 (✅/❌),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항목별 통과 결과, 추천 플랜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Care+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Galaxy Club 플랜별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가격·혜택 조회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구독클럽 플랜 3종 소개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(12/24/36개월)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보고 싶은 플랜 종류,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FAQ 포함 여부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플랜별 월 요금·혜택·잔존가,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가입 절차, FAQ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Club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구독 vs 일반구매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비용 비교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Galaxy Club 구독과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일반 구매 시 총비용 비교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비교할 기기 모델,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플랜 종류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구독/구매 총비용,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절약액, 포함 혜택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비교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보상판매 예상 가격 조회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기기명으로 보상판매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예상 가격 범위 간편 조회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기기명, 용량,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국가, 통신사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상태별 예상 가격 범위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(최상~불량), 프로모션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보상판매 정식 견적 시작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상세 정보 입력 후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정식 보상판매 견적 발급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기기, 용량, 상태,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기능·외관 문제, 국가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견적 번호, 초기 견적가,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가격 산출 내역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Trade-in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사진 기반 기기 상태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정밀 분석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기기 사진을 분석해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기존 견적 대비 가격 재산정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견적 번호,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사진 분석 결과(화면/외관/카메라)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변경 전/후 가격,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종합 등급, 다음 절차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Trade-in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28A0"/>
                          </a:solidFill>
                          <a:latin typeface="맑은 고딕"/>
                        </a:rPr>
                        <a:t>보상판매 견적 결과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이전에 발급받은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보상판매 견적 결과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견적 번호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최종 보상가, 상태,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다음 절차 안내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맑은 고딕"/>
                        </a:rPr>
                        <a:t>Trade-in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활용 데이터 목록 — 데이터 영역별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1E3AB8"/>
                </a:solidFill>
                <a:latin typeface="맑은 고딕"/>
              </a:rPr>
              <a:t>MCP 서버가 사용하는 4개 데이터 파일과 각각의 역할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623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5623560" cy="4572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① 제품 카탈로그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DDEEFF"/>
                </a:solidFill>
                <a:latin typeface="맑은 고딕"/>
              </a:rPr>
              <a:t>devices.json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031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43개 Galaxy 기기 정보 (S22~S25, Z4~6, Tab, Watch 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59152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기기별 Trade-in 기준가 (용량별 USD 가격)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15184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기기별 정가(MSRP) — Galaxy Club 비용 비교에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71216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스펙 정보 (디스플레이, 프로세서, 카메라, 배터리 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27248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출시일, 판매 상태, Trade-in 대상 여부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5303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1">
                <a:solidFill>
                  <a:srgbClr val="1428A0"/>
                </a:solidFill>
                <a:latin typeface="맑은 고딕"/>
              </a:rPr>
              <a:t>연결 기능: 보상판매 예상 가격 조회, 보상판매 정식 견적 시작, 사진 기반 기기 상태 정밀 분석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00200"/>
            <a:ext cx="5623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600200"/>
            <a:ext cx="5623560" cy="45720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② Trade-in 가격 산정 테이블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16916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DDEEFF"/>
                </a:solidFill>
                <a:latin typeface="맑은 고딕"/>
              </a:rPr>
              <a:t>devices.json 내 9개 보조 테이블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031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상태별 가격 계수 (excellent 100% ~ poor 40%)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59152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6개국 지역별 계수 및 환율 (US/KR/UK/DE/JP/SG)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15184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10개 통신사별 가격 조정 (+$10 ~ -$25)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71216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기능 문제 감가 15종 (배터리, 충전, 카메라 등)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27248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외관 문제 감가 10종 (화면깨짐, 찍힘, 힌지 등)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8328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AI Vision 판정 기준 4부위 (화면/외관/카메라/힌지)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39312"/>
            <a:ext cx="5303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1">
                <a:solidFill>
                  <a:srgbClr val="007A33"/>
                </a:solidFill>
                <a:latin typeface="맑은 고딕"/>
              </a:rPr>
              <a:t>연결 기능: 보상판매 예상 가격 조회, 보상판매 정식 견적 시작, 사진 기반 기기 상태 정밀 분석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114800"/>
            <a:ext cx="5623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5623560" cy="457200"/>
          </a:xfrm>
          <a:prstGeom prst="round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160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③ Galaxy Club 구독 플랜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2062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DDEEFF"/>
                </a:solidFill>
                <a:latin typeface="맑은 고딕"/>
              </a:rPr>
              <a:t>plans.json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6177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3개 플랜 (12개월/24개월/36개월)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873752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플랜별 기기 가격표 (S26, Z Fold7, Z Flip7 등)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129784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잔존가 보장 금액표 (7건, 모델·용량별)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385816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FAQ 8건, 가입 절차 3단계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641848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구독 라이프사이클 4단계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897880"/>
            <a:ext cx="5303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1">
                <a:solidFill>
                  <a:srgbClr val="5C2D91"/>
                </a:solidFill>
                <a:latin typeface="맑은 고딕"/>
              </a:rPr>
              <a:t>연결 기능: Galaxy Club 플랜별 가격·혜택 조회, 구독 vs 일반구매 비용 비교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114800"/>
            <a:ext cx="5623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63640" y="4114800"/>
            <a:ext cx="5623560" cy="457200"/>
          </a:xfrm>
          <a:prstGeom prst="roundRect">
            <a:avLst/>
          </a:prstGeom>
          <a:solidFill>
            <a:srgbClr val="0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160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④ Samsung Care+ 보험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42062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DDEEFF"/>
                </a:solidFill>
                <a:latin typeface="맑은 고딕"/>
              </a:rPr>
              <a:t>care_plus.json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6177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2개 플랜 (Basic / Premium)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873752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7개 기기 카테고리별 월 보험료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29784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Late Enrollment 규칙 (60일~1년, Vision 검사)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85816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클레임 프로세스 4단계, 서비스센터 6개국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641848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FAQ 10건, 보장 제외사항 7건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897880"/>
            <a:ext cx="5303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1">
                <a:solidFill>
                  <a:srgbClr val="006EBE"/>
                </a:solidFill>
                <a:latin typeface="맑은 고딕"/>
              </a:rPr>
              <a:t>연결 기능: Care+ 플랜 조회 및 가입 가능 여부 확인, 사진 기반 기기 상태 검사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6446520"/>
            <a:ext cx="11247120" cy="32004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1E3AB8"/>
                </a:solidFill>
                <a:latin typeface="맑은 고딕"/>
              </a:rPr>
              <a:t>가격 산출 공식:  (기준가 x 지역 계수) + 상태 보정 - 기능문제 감가 - 외관문제 감가 + 통신사 조정 + 프로모션 보너스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활용 데이터 목록 — 상세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1428A0"/>
                </a:solidFill>
                <a:latin typeface="맑은 고딕"/>
              </a:rPr>
              <a:t>제품 라인업 (43개 기기)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시리즈 / 기기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수량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스마트폰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Galaxy S25 Ultra ~ S22  (12개)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Galaxy Z Fold6 ~ Z Flip4  (6개)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Galaxy A55 / A35 / A25  (3개)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태블릿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Galaxy Tab S10 Ultra ~ Tab S9  (6개)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워치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Galaxy Watch Ultra / Watch7 / Watch6 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이어버즈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Galaxy Buds3 Pro / Buds3 / Buds2 Pro / Buds FE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노트북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Galaxy Book4 Ultra ~ Book Go  (6개)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웨어러블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Galaxy Ring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206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007A33"/>
                </a:solidFill>
                <a:latin typeface="맑은 고딕"/>
              </a:rPr>
              <a:t>Trade-in 가격 산정 보조 테이블 (9종)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57200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383280"/>
                <a:gridCol w="731520"/>
              </a:tblGrid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보조 테이블</a:t>
                      </a:r>
                    </a:p>
                  </a:txBody>
                  <a:tcPr anchor="ctr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 anchor="ctr">
                    <a:solidFill>
                      <a:srgbClr val="007A33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상태별 가격 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excellent(100%) / good(85%) / fair(65%) / poor(40%)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4단계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지역별 계수 &amp; 환율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US / KR / UK / DE / JP / SG — 계수 + 통화 + 환율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6개국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통신사별 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자급제(0) ~ 기타잠금(-$25)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10종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기능 문제 감가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배터리, 충전, 스피커, 카메라, 지문인식, GPS 등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15항목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외관 문제 감가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화면깨짐(-$100), 후면깨짐(-$60), 힌지마모(-$40) 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10항목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AI Vision 판정 기준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화면/외관/카메라/힌지 각 4단계 → 등급 매핑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4부위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상태 설명 텍스트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각 상태 등급의 사용자용 설명문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4건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감가상각 일정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출시 후 연차별 가치 하락률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5단계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프로모션 보너스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Spring Trade-in Bonus +$50 (스마트폰/태블릿)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1건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11430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5C2D91"/>
                </a:solidFill>
                <a:latin typeface="맑은 고딕"/>
              </a:rPr>
              <a:t>Galaxy Club 데이터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플랜 3종: 12개월형(₩6,900/월) / 24개월형(₩6,900/월) / 36개월형(₩8,900/월)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73736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플랜별 대상 기기: S26시리즈, Z Fold7, Z Flip7 (S25는 가입종료)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잔존가 보장: S26 모델·용량별 7건 (예: S26 Ultra 1TB → 12개월 1,272,700원)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FAQ 8건 (반납, 해지, IMEI, 분실보장, 결제 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6032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가입 절차 3단계: 구매+신청 → IMEI등록 → 반납+잔존가수령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3464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라이프사이클 4단계: 구매+가입 → IMEI등록 → 기기사용 → 반납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10896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Care+ 플랜별 자동 포함 (12/24mo: 파손, 36mo: 분실/파손)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38328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액세서리 할인 쿠폰 (플랜·기기별 차등)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4903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006EBE"/>
                </a:solidFill>
                <a:latin typeface="맑은 고딕"/>
              </a:rPr>
              <a:t>Samsung Care+ 데이터 현황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6908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플랜 2종: Basic($11.99/월) / Premium($17.99/월) — 플래그십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34340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7개 카테고리별 차등 요금 (스마트폰~노트북, $2.99~$17.99)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61772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자기부담금: Basic 화면$29 vs Premium 화면$0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89204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Late Enrollment: 구매 60일~1년, Vision 검사 통과 시 가입 (수수료 $49)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6636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Vision 통과 기준: 화면·외관·카메라 각각 "양호" 이상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44068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클레임 프로세스 4단계 (접수→확인→수리/교체→완료)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71500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서비스센터: 전 세계 3,200개 (US 420, KR 180 등 6개국)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98932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FAQ 10건, 보장 제외사항 7건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6355080"/>
            <a:ext cx="5303520" cy="411480"/>
          </a:xfrm>
          <a:prstGeom prst="roundRect">
            <a:avLst/>
          </a:prstGeom>
          <a:solidFill>
            <a:srgbClr val="FFF5EE"/>
          </a:solidFill>
          <a:ln w="12700">
            <a:solidFill>
              <a:srgbClr val="F07E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64008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F07E13"/>
                </a:solidFill>
                <a:latin typeface="맑은 고딕"/>
              </a:rPr>
              <a:t>참고: promotions.json (22개 캠페인)은 현재 서버에서 미사용 — 향후 프로모션 기능 확장 시 활용 예정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위젯 (사용자에게 보이는 화면) &amp; AI Vision 활용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697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2697480" cy="502920"/>
          </a:xfrm>
          <a:prstGeom prst="roundRect">
            <a:avLst/>
          </a:prstGeom>
          <a:solidFill>
            <a:srgbClr val="0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Care+ 위젯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Basic / Premium 플랜 비교 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12847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가입 상태 배너 (즉시/Late/만료)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96896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Vision 검사 결과 인디케이터 🟢🟡🔴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80944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CTA: "Care+ 가입하기" 버튼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188720"/>
            <a:ext cx="2697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188720"/>
            <a:ext cx="2697480" cy="502920"/>
          </a:xfrm>
          <a:prstGeom prst="round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280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Galaxy Club 위젯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828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12/24/36개월 플랜 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212847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월 요금, 잔존가, 혜택 상세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96896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구독 라이프사이클 타임라인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980944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가입 절차 단계 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188720"/>
            <a:ext cx="2697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2697480" cy="502920"/>
          </a:xfrm>
          <a:prstGeom prst="roundRect">
            <a:avLst/>
          </a:prstGeom>
          <a:solidFill>
            <a:srgbClr val="1E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280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비교 위젯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828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구독 vs 일반구매 비용 비교 차트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212847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절약액 강조 배너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96896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포함 혜택 목록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980944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Trade-in 정보 (해당 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188720"/>
            <a:ext cx="2697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98280" y="1188720"/>
            <a:ext cx="2697480" cy="50292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28016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Trade-in 위젯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828800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기기 검색 입력창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212847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상태별 가격 범위 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596896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견적 결과 (Before / After)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980944"/>
            <a:ext cx="2423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• 상태 인디케이터 + CTA 버튼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931920"/>
            <a:ext cx="11247120" cy="2286000"/>
          </a:xfrm>
          <a:prstGeom prst="roundRect">
            <a:avLst/>
          </a:prstGeom>
          <a:solidFill>
            <a:srgbClr val="FDF5E6"/>
          </a:solidFill>
          <a:ln w="12700">
            <a:solidFill>
              <a:srgbClr val="F07E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041648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F07E13"/>
                </a:solidFill>
                <a:latin typeface="맑은 고딕"/>
              </a:rPr>
              <a:t>🔍 핵심 기술: AI Vision 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3개 시나리오 중 2개에서 ChatGPT의 Vision(이미지 분석) 기능을 활용합니다.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84632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919472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006EBE"/>
                </a:solidFill>
                <a:latin typeface="맑은 고딕"/>
              </a:rPr>
              <a:t>Care+ Late Enrollment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212080"/>
            <a:ext cx="4937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사진 업로드 → ChatGPT Vision 분석
→ 화면/외관/카메라 상태 판정
→ MCP 서버에서 가입 승인/거절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84632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919472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007A33"/>
                </a:solidFill>
                <a:latin typeface="맑은 고딕"/>
              </a:rPr>
              <a:t>Trade-in 정밀 견적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212080"/>
            <a:ext cx="4937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사진 업로드 → ChatGPT Vision 분석
→ 화면/외관/카메라 상태 판정
→ MCP 서버에서 가격 재산정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기술 요건 — PoC / MVP 수준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0881360" cy="41148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1E3AB8"/>
                </a:solidFill>
                <a:latin typeface="맑은 고딕"/>
              </a:rPr>
              <a:t>전제: 내부 시연 또는 제한된 사용자 대상 검증 목적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3611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3611880" cy="45720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10512"/>
            <a:ext cx="3337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서버 &amp; 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Node.js 서버 1대 (현재 PoC 구조)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클라우드 VM 또는 컨테이너 1개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0896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HTTPS 인증서 (Let's Encrypt)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고정 도메인 1개 (ngrok 대체)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737360"/>
            <a:ext cx="3611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60" y="1737360"/>
            <a:ext cx="3611880" cy="457200"/>
          </a:xfrm>
          <a:prstGeom prst="roundRect">
            <a:avLst/>
          </a:prstGeom>
          <a:solidFill>
            <a:srgbClr val="1E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810512"/>
            <a:ext cx="3337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데이터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8600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JSON 파일 또는 간단한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9748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(현재 mock 데이터를 실 데이터로 교체)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0896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가격 정보 수동 업데이트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2044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사용자 데이터 저장 불필요 (세션 단위)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737360"/>
            <a:ext cx="3611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737360"/>
            <a:ext cx="3611880" cy="45720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1810512"/>
            <a:ext cx="3337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ChatGPT 연동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28600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OpenAI Apps 파트너 등록 신청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69748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Streamable HTTP Transport (현재 구현)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10896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Widget: HTML/CSS/JS (정적 iframe)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520440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• MCP 프로토콜 표준 준수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400" b="1">
                <a:solidFill>
                  <a:srgbClr val="1428A0"/>
                </a:solidFill>
                <a:latin typeface="맑은 고딕"/>
              </a:rPr>
              <a:t>예상 인력 &amp; 기간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1428A0"/>
                </a:solidFill>
                <a:latin typeface="맑은 고딕"/>
              </a:rPr>
              <a:t>백엔드 개발 1명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4924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MCP 서버 개발, 데이터 연동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0292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1428A0"/>
                </a:solidFill>
                <a:latin typeface="맑은 고딕"/>
              </a:rPr>
              <a:t>프론트엔드 개발 1명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34924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위젯 UI 개발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0292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1428A0"/>
                </a:solidFill>
                <a:latin typeface="맑은 고딕"/>
              </a:rPr>
              <a:t>기획/데이터 1명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34924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서비스 시나리오, 데이터 준비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15000"/>
            <a:ext cx="2286000" cy="41148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760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총 예상 기간: 4~6주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Production — 삼성 계정 연동 &amp; 서비스 페이지 연결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0881360" cy="41148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1E3AB8"/>
                </a:solidFill>
                <a:latin typeface="맑은 고딕"/>
              </a:rPr>
              <a:t>대화에서 수집한 정보로 삼성닷컴 신청 페이지에 바로 연결하려면?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623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5623560" cy="41148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3736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Samsung Account 연동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Samsung Account는 OAuth 2.0 + OpenID Connect 표준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68879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client_id 발급에 삼성 파트너 계약 필요 (자체 등록 불가)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43200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Samsung Account 인프라: AWS EKS, 70+ 마이크로서비스, 4개 리전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0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연동 흐름: ChatGPT 위젯 CTA 클릭 → Samsung Account 로그인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39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   → OAuth state에 대화 컨텍스트(견적ID 등) 포함 → 콜백 후 신청 페이지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66160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OpenAI Apps SDK가 OAuth 2.1 흐름 지원 → state 파라미터로 컨텍스트 전달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91640"/>
            <a:ext cx="5623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691640"/>
            <a:ext cx="5623560" cy="411480"/>
          </a:xfrm>
          <a:prstGeom prst="roundRect">
            <a:avLst/>
          </a:prstGeom>
          <a:solidFill>
            <a:srgbClr val="1E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대화 → 신청 페이지 사전입력 연결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94560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패턴: 서버에서 단기 토큰(5~15분) 발급 → URL에 토큰만 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68879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   → 랜딩페이지가 토큰으로 서버 콜백 → 저장된 대화 정보 수신 → 폼 사전입력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43200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전달 가능 정보: 기기 모델, 용량, 상태, 견적ID, 보상가, 플랜 선택 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17520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보안: 토큰 1회 사용 후 무효화, HMAC 서명으로 위변조 방지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91839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PII(IMEI, 이름, 연락처)는 URL 파라미터에 절대 포함 금지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66160"/>
            <a:ext cx="5349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</a:rPr>
              <a:t>• 랜딩페이지: 삼성닷컴 SAP Commerce 기반 → 토큰 수신 API 개발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976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1428A0"/>
                </a:solidFill>
                <a:latin typeface="맑은 고딕"/>
              </a:rPr>
              <a:t>예시 흐름: Trade-in 보상판매 신청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63440"/>
            <a:ext cx="2011680" cy="8229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① 대화에서
견적 완료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8463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Aft>
                <a:spcPts val="0"/>
              </a:spcAft>
            </a:pPr>
            <a:r>
              <a:rPr sz="1800" b="1">
                <a:solidFill>
                  <a:srgbClr val="4A90D9"/>
                </a:solidFill>
                <a:latin typeface="맑은 고딕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8920" y="4663440"/>
            <a:ext cx="2011680" cy="82296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709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② 위젯 CTA
"신청하기" 클릭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8463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Aft>
                <a:spcPts val="0"/>
              </a:spcAft>
            </a:pPr>
            <a:r>
              <a:rPr sz="1800" b="1">
                <a:solidFill>
                  <a:srgbClr val="4A90D9"/>
                </a:solidFill>
                <a:latin typeface="맑은 고딕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0" y="4663440"/>
            <a:ext cx="2011680" cy="822960"/>
          </a:xfrm>
          <a:prstGeom prst="roundRect">
            <a:avLst/>
          </a:prstGeom>
          <a:solidFill>
            <a:srgbClr val="1E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4709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③ Samsung Account
OAuth 로그인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8463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Aft>
                <a:spcPts val="0"/>
              </a:spcAft>
            </a:pPr>
            <a:r>
              <a:rPr sz="1800" b="1">
                <a:solidFill>
                  <a:srgbClr val="4A90D9"/>
                </a:solidFill>
                <a:latin typeface="맑은 고딕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59" y="4663440"/>
            <a:ext cx="2011680" cy="822960"/>
          </a:xfrm>
          <a:prstGeom prst="roundRect">
            <a:avLst/>
          </a:prstGeom>
          <a:solidFill>
            <a:srgbClr val="0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799" y="4709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④ MCP 서버에서
토큰 발급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599" y="48463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Aft>
                <a:spcPts val="0"/>
              </a:spcAft>
            </a:pPr>
            <a:r>
              <a:rPr sz="1800" b="1">
                <a:solidFill>
                  <a:srgbClr val="4A90D9"/>
                </a:solidFill>
                <a:latin typeface="맑은 고딕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84080" y="4663440"/>
            <a:ext cx="2011680" cy="82296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4709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⑤ 삼성닷컴 신청 페이지
(폼 사전입력 완료)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669280"/>
            <a:ext cx="11247120" cy="640080"/>
          </a:xfrm>
          <a:prstGeom prst="roundRect">
            <a:avLst/>
          </a:prstGeom>
          <a:solidFill>
            <a:srgbClr val="FFF5EE"/>
          </a:solidFill>
          <a:ln w="12700">
            <a:solidFill>
              <a:srgbClr val="F07E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Aft>
                <a:spcPts val="0"/>
              </a:spcAft>
            </a:pPr>
            <a:r>
              <a:rPr sz="1000" b="1">
                <a:solidFill>
                  <a:srgbClr val="F07E13"/>
                </a:solidFill>
                <a:latin typeface="맑은 고딕"/>
              </a:rPr>
              <a:t>삼성전자 준비 사항:  ① Samsung Account OAuth client_id 발급 (파트너 계약)  ② 삼성닷컴 랜딩페이지에 토큰 수신 API 개발 (SAP Commerce 확장)  ③ 위젯 CTA → 삼성닷컴 딥링크 URL 스키마 정의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Production — 실 데이터 소싱 &amp; 삼성 내부 시스템 연동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0881360" cy="41148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1E3AB8"/>
                </a:solidFill>
                <a:latin typeface="맑은 고딕"/>
              </a:rPr>
              <a:t>현재 Mock 데이터 → 삼성 내부 시스템의 실제 데이터로 전환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691640"/>
          <a:ext cx="9966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474720"/>
                <a:gridCol w="2926080"/>
                <a:gridCol w="137160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현재 Mock 데이터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실 데이터 소스 (삼성 시스템)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연동 방식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갱신 주기</a:t>
                      </a:r>
                    </a:p>
                  </a:txBody>
                  <a:tcPr anchor="ctr">
                    <a:solidFill>
                      <a:srgbClr val="1428A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제품 카탈로그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(devices.json, 43개 기기)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SAP Commerce Cloud (Hybris)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삼성닷컴 PIM (제품정보관리)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SAP Commerce OCC API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또는 Kafka 스트림 구독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기기 출시 시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(분기 1~2회)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기기 정가 (MSRP)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용량별 가격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SAP Commerce 가격 엔진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Kafka 실시간 가격 스트림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REST API 조회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또는 이벤트 수신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가격 변동 시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(수시)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Trade-in 기준가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상태별 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삼성닷컴 Trade-in 룩업 테이블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(SAP Commerce 프로모션 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내부 API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모델 출시/분기별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가격 재산정 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Trade-in 실물 감정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(한국)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민팃 (SK Networks)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ATM 6,600대, AI 31포인트 검사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민팃 파트너 API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(현재 존재 여부 확인 필요)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실시간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(ATM 감정 결과)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Care+ 플랜/가입/클레임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Servify 플랫폼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(integrations.servify.com)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Servify REST API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(IMEI 조회, 플랜, 가입 적격)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실시간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Galaxy Club 구독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Samsung Account + SAP Commerce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(IMEI 기반 구독 관리)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Samsung Account API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SAP Commerce 구독 모듈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실시간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고객 인증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Samsung Account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(AWS EKS, 4개 리전, 2.7M RPS)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OAuth 2.0 + OIDC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(client_id 파트너 발급)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맑은 고딕"/>
                        </a:rPr>
                        <a:t>실시간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74320" y="6035040"/>
            <a:ext cx="11612880" cy="731520"/>
          </a:xfrm>
          <a:prstGeom prst="roundRect">
            <a:avLst/>
          </a:prstGeom>
          <a:solidFill>
            <a:srgbClr val="FFF5EE"/>
          </a:solidFill>
          <a:ln w="12700">
            <a:solidFill>
              <a:srgbClr val="F07E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53328"/>
            <a:ext cx="11247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F07E13"/>
                </a:solidFill>
                <a:latin typeface="맑은 고딕"/>
              </a:rPr>
              <a:t>삼성전자 준비 사항:
① SAP Commerce OCC API 접근 권한 부여 (제품/가격 데이터)  ② Servify 파트너 API 연동 계약 (Care+ 데이터)  ③ 민팃 API 연동 가능 여부 확인 (Trade-in 실물 감정)  ④ MCP 서버 전용 서비스 계정 발급 (API Gateway 경유, rate limit 설정)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Production — 보안, 개인정보, 인프라 요건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648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0">
                <a:solidFill>
                  <a:srgbClr val="1E3AB8"/>
                </a:solidFill>
                <a:latin typeface="맑은 고딕"/>
              </a:rPr>
              <a:t>Samsung Galaxy Services — MCP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3749039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188720"/>
            <a:ext cx="3749039" cy="411480"/>
          </a:xfrm>
          <a:prstGeom prst="round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개인정보보호법 (PIPA) 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2023년 개정 PIPA 적용 (시행 2023.9.15)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ChatGPT(OpenAI)로의 국외 이전: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1460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  → 이용자 동의 또는 계약 위탁 고지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2608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72시간 이내 침해 통지 의무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3756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자동화된 결정(AI 견적)에 대한 거부권 보장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4904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IMEI, 구매이력 등 수집 목적 명시 필수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대화 내 PII 최소 보관, 목적 달성 후 파기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7200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개인정보 처리방침 + DPA(OpenAI) 체결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1188720"/>
            <a:ext cx="3749039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1188720"/>
            <a:ext cx="3749039" cy="41148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23444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보안 아키텍처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69164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MCP 서버: Samsung Cloud 또는 AWS EKS 배포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10312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삼성 내부 네트워크 ↔ MCP: API Gateway 경유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51460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  → mTLS + API Key + IP 화이트리스트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92608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ChatGPT ↔ MCP: HTTPS + OAuth 2.0 토큰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33756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위젯 CSP: 삼성 도메인만 허용 (allowlist)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4904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Samsung Account OAuth: PKCE 필수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16052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모든 도구 호출 감사 로그 (who/when/what)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57200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Knox 보안 인증 기준 적용 (CC EAL4+, FIPS)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188720"/>
            <a:ext cx="3749039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1188720"/>
            <a:ext cx="3749039" cy="411480"/>
          </a:xfrm>
          <a:prstGeom prst="roundRect">
            <a:avLst/>
          </a:prstGeom>
          <a:solidFill>
            <a:srgbClr val="1E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23444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인프라 &amp; 운영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69164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컨테이너 오케스트레이션 (K8s), Auto-scaling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10312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Multi-AZ 배포, SLA 99.9%, 응답 &lt;2초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51460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APM 모니터링 + 알림 (Datadog/CloudWatch)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92608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CI/CD: 자동 빌드·배포·롤백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33756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E2E 테스트 자동화 (시나리오별)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74904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Vision 정확도 벤치마크 및 정기 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16052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다국어 위젯 (한/영/일/독)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57200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60"/>
              </a:lnSpc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• 인간 상담원 에스컬레이션 프로세스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440680"/>
            <a:ext cx="11612880" cy="86868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48640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1428A0"/>
                </a:solidFill>
                <a:latin typeface="맑은 고딕"/>
              </a:rPr>
              <a:t>예상 인력 &amp; 기간 (Production)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8064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1428A0"/>
                </a:solidFill>
                <a:latin typeface="맑은 고딕"/>
              </a:rPr>
              <a:t>백엔드 2~3명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01675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  <a:latin typeface="맑은 고딕"/>
              </a:rPr>
              <a:t>MCP 서버, SAP/Servify/민팃 API 연동, 인증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8064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1428A0"/>
                </a:solidFill>
                <a:latin typeface="맑은 고딕"/>
              </a:rPr>
              <a:t>프론트 1~2명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601675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  <a:latin typeface="맑은 고딕"/>
              </a:rPr>
              <a:t>위젯 UI/UX, 다국어, 접근성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8064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1428A0"/>
                </a:solidFill>
                <a:latin typeface="맑은 고딕"/>
              </a:rPr>
              <a:t>AI/ML 1명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601675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  <a:latin typeface="맑은 고딕"/>
              </a:rPr>
              <a:t>Vision 정확도 검증, 벤치마크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8064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1428A0"/>
                </a:solidFill>
                <a:latin typeface="맑은 고딕"/>
              </a:rPr>
              <a:t>DevOps 1명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601675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  <a:latin typeface="맑은 고딕"/>
              </a:rPr>
              <a:t>K8s, CI/CD, 모니터링, 보안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8064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0"/>
              </a:spcAft>
            </a:pPr>
            <a:r>
              <a:rPr sz="900" b="1">
                <a:solidFill>
                  <a:srgbClr val="1428A0"/>
                </a:solidFill>
                <a:latin typeface="맑은 고딕"/>
              </a:rPr>
              <a:t>기획+법무 1~2명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01675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  <a:latin typeface="맑은 고딕"/>
              </a:rPr>
              <a:t>시나리오, 파트너 계약, PIPA 검토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309360"/>
            <a:ext cx="2560320" cy="36576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633679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총 예상 기간: 3~5개월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36576"/>
          </a:xfrm>
          <a:prstGeom prst="rect">
            <a:avLst/>
          </a:prstGeom>
          <a:solidFill>
            <a:srgbClr val="1E3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Aft>
                <a:spcPts val="0"/>
              </a:spcAft>
            </a:pPr>
            <a:r>
              <a:rPr sz="1800" b="1">
                <a:solidFill>
                  <a:srgbClr val="88AADD"/>
                </a:solidFill>
                <a:latin typeface="Arial"/>
              </a:rPr>
              <a:t>SAMSUNG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4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요약 — 이 프로젝트가 보여주는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640080" cy="640080"/>
          </a:xfrm>
          <a:prstGeom prst="roundRect">
            <a:avLst/>
          </a:prstGeom>
          <a:solidFill>
            <a:srgbClr val="00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71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ChatGPT 안에서 삼성 서비스를 자연어로 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375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0">
                <a:solidFill>
                  <a:srgbClr val="D6E8F7"/>
                </a:solidFill>
                <a:latin typeface="맑은 고딕"/>
              </a:rPr>
              <a:t>별도 앱 설치 없이, 대화만으로 Care+ 가입, 구독 비교, 보상판매 견적까지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64008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86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AI Vision을 활용한 기기 상태 자동 판정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51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0">
                <a:solidFill>
                  <a:srgbClr val="D6E8F7"/>
                </a:solidFill>
                <a:latin typeface="맑은 고딕"/>
              </a:rPr>
              <a:t>사진만 올리면 화면/외관/카메라 상태를 분석하여 가격 산정 또는 가입 승인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640080" cy="640080"/>
          </a:xfrm>
          <a:prstGeom prst="round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006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인터랙티브 위젯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166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0">
                <a:solidFill>
                  <a:srgbClr val="D6E8F7"/>
                </a:solidFill>
                <a:latin typeface="맑은 고딕"/>
              </a:rPr>
              <a:t>비교표, 차트, 버튼이 있는 화면을 ChatGPT 대화 안에서 직접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640080" cy="64008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7150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MCP 표준 프로토콜 기반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0807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Aft>
                <a:spcPts val="0"/>
              </a:spcAft>
            </a:pPr>
            <a:r>
              <a:rPr sz="1200" b="0">
                <a:solidFill>
                  <a:srgbClr val="D6E8F7"/>
                </a:solidFill>
                <a:latin typeface="맑은 고딕"/>
              </a:rPr>
              <a:t>ChatGPT뿐 아니라 MCP 지원 AI 어시스턴트에도 동일 서버 연결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